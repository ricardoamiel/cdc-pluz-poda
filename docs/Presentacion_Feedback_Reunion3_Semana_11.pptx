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1.svg" ContentType="image/svg+xml"/>
  <Override PartName="/ppt/media/vector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vector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vector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7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7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7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luz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600000"/>
            <a:ext cx="1500000" cy="76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1750000"/>
            <a:ext cx="11192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 i="0">
                <a:solidFill>
                  <a:srgbClr val="131A26"/>
                </a:solidFill>
                <a:latin typeface="Arial"/>
              </a:rPr>
              <a:t>Respuesta a las sugerencias de Pluz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4E5A6E"/>
                </a:solidFill>
                <a:latin typeface="Arial"/>
              </a:rPr>
              <a:t>Cambios de la semana 11, tras el documento de la reunión N°3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500000"/>
            <a:ext cx="11192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DS5045 Ciencia de Datos Computacionales · Pluz Energía y UTEC · Grupo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Herramienta: ricardoamiel.github.io/CDC-Pluz-Poda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Reporte del modelo: ricardoamiel.github.io/CDC-Pluz-Poda/benchmark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E5A6E"/>
                </a:solidFill>
                <a:latin typeface="Arial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Ocho sugerencias y dos recomendaciones: todas atendidas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Cada una se ve en la herramienta o en el proceso semanal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3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000" y="13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Interrupciones solo por vegetación y no ubicadas en la etiqueta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000" y="13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76000" y="13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Indicadores del elemento buscado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215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000" y="215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Llegar a la calle: acercar y vista satelital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000" y="215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76000" y="215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Detalle antes de la curva y nombre ejecutivo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00" y="30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000" y="30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Base de postes de media tensión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000" y="30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76000" y="30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Vegetación más no ubicadas agrupadas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385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000" y="385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Ajustes en Comparar distritos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000" y="385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000" y="385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Subestaciones y postes en los mapas de la comparación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47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6CAC5E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000" y="47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Sustento de la metodología en la literatura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6000" y="4700000"/>
            <a:ext cx="700000" cy="760000"/>
          </a:xfrm>
          <a:prstGeom prst="roundRect">
            <a:avLst>
              <a:gd name="adj" fmla="val 8000"/>
            </a:avLst>
          </a:prstGeom>
          <a:solidFill>
            <a:srgbClr val="6CAC5E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76000" y="4700000"/>
            <a:ext cx="4716000" cy="76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Estructura y calidad de los datos para escalar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Puntos 1 y 2: la etiqueta y los indicadores dicen lo que importa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Interrupciones por vegetación y no ubicadas, y cifras del elemento que se busca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468" y="1237300"/>
            <a:ext cx="3919063" cy="37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tooltip_vege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68" y="1250000"/>
            <a:ext cx="3893663" cy="37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0000" y="1700000"/>
            <a:ext cx="694200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Antes: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la etiqueta mostraba las interrupciones por todas las causas.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Ahora: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la etiqueta, el cuarto indicador y el detalle muestran las interrupciones por vegetación y no ubicadas del último año.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 el detalle: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se separan las de árbol (crecimiento o tala) de las no ubicadas, y aparte las de todas las causas.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0000" y="370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0000" y="4150000"/>
            <a:ext cx="694200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Al buscar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una subestación, un alimentador, una dirección o un poste, los cuatro indicadores describen solo lo encontrado: puesto, clientes, SAIDI e interrupciones por vegetación.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Las tarjetas se marcan en azul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mientras hay búsqueda; al borrarla vuelven a describir el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3: del mapa a la calle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Búsqueda de la subestación 02379A con el fondo satelital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00" y="1237577"/>
            <a:ext cx="5925400" cy="4974844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usqueda_satel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250277"/>
            <a:ext cx="5900000" cy="49494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5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0000" y="1700000"/>
            <a:ext cx="4942000" cy="4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Acercar: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con los botones, con Ctrl y la rueda del ratón o con dos dedos en el teléfono.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Dos fondos: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el coroplético de siempre y uno satelital con las vías y sus nombres (imágenes de Esri).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Búsqueda: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el mapa va directo a la calle de la unidad y los indicadores pasan a esa unidad.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Para la cuadrilla: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el detalle trae la coordenada y los botones Ver en el mapa y Ver calles en vista satelital; el plan descargado trae latitud y longitud.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4: primero el detalle, después la curva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El detalle da el contexto para leer la curva, que ahora se llama Escenario de ampliación del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3300" y="1687300"/>
            <a:ext cx="7825399" cy="37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detalle_ub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00" y="1700000"/>
            <a:ext cx="7799999" cy="370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0000" y="565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Ficha, composición del índice, razones del puesto y ubicación en una sola vista, antes de la curva.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5: la base de postes de media tensión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49.563 postes en la concesión, 1.090 en Los Olivos, cargados como una fuente más del proceso semanal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300" y="1253749"/>
            <a:ext cx="4325400" cy="4892501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ostes_satel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266449"/>
            <a:ext cx="4300000" cy="486710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5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0000" y="1700000"/>
            <a:ext cx="6542000" cy="2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Ubicación: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la base no trae alimentador ni subestación; cada poste se asigna a la subestación aérea más cercana dentro de 400 m.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En el mapa: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los postes aparecen al acercar, los de la unidad elegida se resaltan en amarillo y el buscador encuentra un poste por su código.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0000" y="3900000"/>
            <a:ext cx="6542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95AA1"/>
                </a:solidFill>
                <a:latin typeface="Arial"/>
              </a:rPr>
              <a:t>¿Mejoran el modelo? Se probó y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0000" y="4300000"/>
            <a:ext cx="654200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La mejora no se distingue del azar: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PR AUC de 0,401 a 0,416, con un intervalo de menos 0,017 a más 0,036.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Detecta menos con la capacidad actual: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82,8 % baja a 80,7 % con 270 alertas por mes.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Repite lo que ya está en el índice: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correlación de 0,78 a 0,85 con clientes y potencia.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Por eso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los postes sirven para ubicar, no para predecir.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6: vegetación más no ubicadas, confirmado en los datos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Eventos que el piloto agrupa como probables de vegetación, enero de 2024 a 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1800000"/>
            <a:ext cx="2648000" cy="1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395AA1"/>
                </a:solidFill>
                <a:latin typeface="Arial"/>
              </a:rPr>
              <a:t>165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Crecimiento de árbol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8000" y="1800000"/>
            <a:ext cx="2648000" cy="1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395AA1"/>
                </a:solidFill>
                <a:latin typeface="Arial"/>
              </a:rPr>
              <a:t>53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Tala de árbol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000" y="1800000"/>
            <a:ext cx="2648000" cy="19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395AA1"/>
                </a:solidFill>
                <a:latin typeface="Arial"/>
              </a:rPr>
              <a:t>1.110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No ubicadas en red aérea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4000" y="1800000"/>
            <a:ext cx="2648000" cy="19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4E5A6E"/>
                </a:solidFill>
                <a:latin typeface="Arial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31A26"/>
                </a:solidFill>
                <a:latin typeface="Arial"/>
              </a:rPr>
              <a:t>No ubicadas en cabecera o subestación convencional: quedan fuera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000000"/>
            <a:ext cx="11192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Por qué se suman las no ubicadas: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el diccionario de causas de Pluz las define como fallas que no se encontraron en la inspección, compatibles con un contacto transitorio con ramas.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1" i="0">
                <a:solidFill>
                  <a:srgbClr val="131A26"/>
                </a:solidFill>
                <a:latin typeface="Arial"/>
              </a:rPr>
              <a:t>Por qué se excluyen esas 6: </a:t>
            </a:r>
            <a:r>
              <a:rPr sz="1400" b="0" i="0">
                <a:solidFill>
                  <a:srgbClr val="131A26"/>
                </a:solidFill>
                <a:latin typeface="Arial"/>
              </a:rPr>
              <a:t>en cabecera o en subestación convencional no hay árboles.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565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Lo que el modelo predice: al menos un corte por vegetación o no ubicado en red aérea en los próximos 3 meses.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7: Comparar distritos, sin dobles conteos y con cifras claras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Los Olivos frente a San Juan de Lurigancho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2044" y="1687300"/>
            <a:ext cx="6927910" cy="237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omparar_cif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744" y="1700000"/>
            <a:ext cx="6902510" cy="23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000" y="4250000"/>
            <a:ext cx="5446000" cy="20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Alimentadores compartidos: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cada uno aporta a cada distrito solo la parte de sus subestaciones en él; ningún evento se cuenta dos veces.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Nueva fila: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cantidad de mantenimientos por vegetación, con las podas del último año. Va aparte de los cortes porque una cuenta podas y la otra, cortes.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6000" y="4250000"/>
            <a:ext cx="5446000" cy="20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Sin decimales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en las cifras por cada 100 subestaciones ni en la aproximación de cuánta vegetación hay.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Un color por distrito: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azul para Los Olivos y verde para el comparado, con su leyenda.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Punto 8: subestaciones y postes en los dos mapas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Mismo selector de fondo que el piloto; al acercar aparecen las subestaciones aéreas y los postes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250000"/>
            <a:ext cx="1700000" cy="33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50000" rIns="50000" tIns="60000" bIns="600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Punto 8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136" y="1687300"/>
            <a:ext cx="5837727" cy="45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omparar_satel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836" y="1700000"/>
            <a:ext cx="5812327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Cómo funciona el modelo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Probabilidad de al menos un corte por vegetación o no ubicado en los próximos 3 meses, por alimentador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250000"/>
            <a:ext cx="6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5AA1"/>
                </a:solidFill>
                <a:latin typeface="Arial"/>
              </a:rPr>
              <a:t>Cinco variables; ninguna es del índice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000" y="158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E5A6E"/>
                </a:solidFill>
                <a:latin typeface="Arial"/>
              </a:rPr>
              <a:t>Riesgo por salto típico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1900000"/>
            <a:ext cx="3800000" cy="7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Interrupciones del último año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Todas las causas; Pluz pidió incluirla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0000" y="1900000"/>
            <a:ext cx="2300000" cy="72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D2F55"/>
                </a:solidFill>
                <a:latin typeface="Arial"/>
              </a:rPr>
              <a:t>× 1,91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2700000"/>
            <a:ext cx="3800000" cy="7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Historial de vegetación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Eventos desde enero de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0000" y="2700000"/>
            <a:ext cx="2300000" cy="72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D2F55"/>
                </a:solidFill>
                <a:latin typeface="Arial"/>
              </a:rPr>
              <a:t>× 1,32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3500000"/>
            <a:ext cx="3800000" cy="7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Vegetación del último año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Exposición reciente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000" y="3500000"/>
            <a:ext cx="2300000" cy="72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D2F55"/>
                </a:solidFill>
                <a:latin typeface="Arial"/>
              </a:rPr>
              <a:t>× 1,13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00" y="4300000"/>
            <a:ext cx="3800000" cy="7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1A26"/>
                </a:solidFill>
                <a:latin typeface="Arial"/>
              </a:rPr>
              <a:t>Estacionalidad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Mes del año; pesa muy poco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000" y="4300000"/>
            <a:ext cx="2300000" cy="72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D2F55"/>
                </a:solidFill>
                <a:latin typeface="Arial"/>
              </a:rPr>
              <a:t>× 1,00 a 1,04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000" y="1250000"/>
            <a:ext cx="4592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5AA1"/>
                </a:solidFill>
                <a:latin typeface="Arial"/>
              </a:rPr>
              <a:t>Del modelo al índice de criticidad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0000" y="1700000"/>
            <a:ext cx="900000" cy="520000"/>
          </a:xfrm>
          <a:prstGeom prst="roundRect">
            <a:avLst>
              <a:gd name="adj" fmla="val 8000"/>
            </a:avLst>
          </a:prstGeom>
          <a:solidFill>
            <a:srgbClr val="395AA1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0,40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0000" y="1700000"/>
            <a:ext cx="3612000" cy="5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A26"/>
                </a:solidFill>
                <a:latin typeface="Arial"/>
              </a:rPr>
              <a:t>Probabilidad del modelo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0000" y="2300000"/>
            <a:ext cx="900000" cy="520000"/>
          </a:xfrm>
          <a:prstGeom prst="roundRect">
            <a:avLst>
              <a:gd name="adj" fmla="val 8000"/>
            </a:avLst>
          </a:prstGeom>
          <a:solidFill>
            <a:srgbClr val="FCC13F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0,20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0000" y="2300000"/>
            <a:ext cx="3612000" cy="5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A26"/>
                </a:solidFill>
                <a:latin typeface="Arial"/>
              </a:rPr>
              <a:t>Tiempo sin poda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0000" y="2900000"/>
            <a:ext cx="900000" cy="520000"/>
          </a:xfrm>
          <a:prstGeom prst="roundRect">
            <a:avLst>
              <a:gd name="adj" fmla="val 8000"/>
            </a:avLst>
          </a:prstGeom>
          <a:solidFill>
            <a:srgbClr val="6CAC5E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0,20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0000" y="2900000"/>
            <a:ext cx="3612000" cy="5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A26"/>
                </a:solidFill>
                <a:latin typeface="Arial"/>
              </a:rPr>
              <a:t>SAIDI del último año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0000" y="3500000"/>
            <a:ext cx="900000" cy="520000"/>
          </a:xfrm>
          <a:prstGeom prst="roundRect">
            <a:avLst>
              <a:gd name="adj" fmla="val 8000"/>
            </a:avLst>
          </a:prstGeom>
          <a:solidFill>
            <a:srgbClr val="4E5A6E"/>
          </a:solidFill>
          <a:ln>
            <a:noFill/>
          </a:ln>
        </p:spPr>
        <p:txBody>
          <a:bodyPr rtlCol="0" anchor="ctr" wrap="square" lIns="20000" rIns="20000" tIns="60000" bIns="6000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0,20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0000" y="3500000"/>
            <a:ext cx="3612000" cy="52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20000" rIns="12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A26"/>
                </a:solidFill>
                <a:latin typeface="Arial"/>
              </a:rPr>
              <a:t>Exposición: clientes y potencia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0000" y="4200000"/>
            <a:ext cx="4592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Percentil dentro del distrito: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100 es la unidad más urgente.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Capacidad: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10 alimentadores o 76 subestaciones al mes en Los Olivos.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000" y="565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Más historial o más interrupciones dan siempre más riesgo, nunca menos; y cuando el modelo dice 30 %, ocurren cerca de 30 de cada 100.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00" y="6100000"/>
            <a:ext cx="11192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Regresión logística: PR AUC 0,401, empatada con Random Forest; ningún modelo de los siete la supera de forma distinguible.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Dónde acierta el modelo: alimentadores con historial sostenido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Prueba de enero a mayo de 2026, que el modelo no vio, con 270 alertas por mes en unos 514 alimentadores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11</a:t>
            </a:r>
          </a:p>
        </p:txBody>
      </p:sp>
      <p:pic>
        <p:nvPicPr>
          <p:cNvPr id="7" name="Picture 6" descr="precision_por_historia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00" y="1293116"/>
            <a:ext cx="7000000" cy="36137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00000" y="1250000"/>
            <a:ext cx="3892000" cy="7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200000" rIns="200000" tIns="60000" bIns="60000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2F55"/>
                </a:solidFill>
                <a:latin typeface="Arial"/>
              </a:rPr>
              <a:t>360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aciertos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0000" y="2030000"/>
            <a:ext cx="3892000" cy="7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200000" rIns="200000" tIns="60000" bIns="60000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2F55"/>
                </a:solidFill>
                <a:latin typeface="Arial"/>
              </a:rPr>
              <a:t>990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falsas alarmas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0000" y="2810000"/>
            <a:ext cx="3892000" cy="7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200000" rIns="200000" tIns="60000" bIns="60000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2F55"/>
                </a:solidFill>
                <a:latin typeface="Arial"/>
              </a:rPr>
              <a:t>75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cortes no previstos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000" y="3640000"/>
            <a:ext cx="3892000" cy="1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27 de cada 100 alertas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terminan en corte; al azar serían 17.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Detecta el 82,8 %</a:t>
            </a:r>
            <a:r>
              <a:rPr sz="1200" b="0" i="0">
                <a:solidFill>
                  <a:srgbClr val="131A26"/>
                </a:solidFill>
                <a:latin typeface="Arial"/>
              </a:rPr>
              <a:t> de los cortes.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00" y="5200000"/>
            <a:ext cx="10492000" cy="38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La precisión va de 9 % sin historial a 56 % con más de diez eventos; 19 alimentadores acertaron los cinco meses.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5700000"/>
            <a:ext cx="11192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E5A6E"/>
                </a:solidFill>
                <a:latin typeface="Arial"/>
              </a:rPr>
              <a:t>Un corte no previsto cuesta más que una poda adelantada: la falsa alarma es, en la práctica, poda preventiva sobre alimentadores que el historial ya señala.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Dónde se equivoca, y cómo le fue en Los Olivos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Piloto: 75 alertas en cinco meses, 20 aciertos, 55 falsas alarmas y 5 cortes no previstos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12</a:t>
            </a:r>
          </a:p>
        </p:txBody>
      </p:sp>
      <p:pic>
        <p:nvPicPr>
          <p:cNvPr id="7" name="Picture 6" descr="aciertos_los_olivo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00" y="1268076"/>
            <a:ext cx="5300000" cy="3913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0000" y="1250000"/>
            <a:ext cx="5592000" cy="40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Falsas alarmas por otras causas: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sin vegetación en el último año las alertas aciertan 15 %, frente a 30 % con vegetación reciente. Son alimentadores con muchas interrupciones de otras causas.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Podas que funcionaron: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parte de las falsas alarmas puede ser un riesgo evitado; hoy no se separa porque la poda no dice si fue preventiva o correctiva.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200" b="1" i="0">
                <a:solidFill>
                  <a:srgbClr val="131A26"/>
                </a:solidFill>
                <a:latin typeface="Arial"/>
              </a:rPr>
              <a:t>El primer corte: </a:t>
            </a:r>
            <a:r>
              <a:rPr sz="1200" b="0" i="0">
                <a:solidFill>
                  <a:srgbClr val="131A26"/>
                </a:solidFill>
                <a:latin typeface="Arial"/>
              </a:rPr>
              <a:t>el 85 % de los no previstos ocurrió sin vegetación en el año anterior y el 49 % sin ningún evento desde 2024. Es el punto ciego de cualquier modelo basado en historial.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5400000"/>
            <a:ext cx="11192000" cy="8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20000" rIns="120000" tIns="60000" bIns="600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Cómo usarlo: alerta con historial, poda con confianza; alerta sin vegetación reciente, inspección antes de mover la cuadrilla.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Recomendación 1: cada decisión tiene sustento en la literatura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Lista completa en la carpeta papers del repositorio y en la última sección del reporte del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30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Predecir por alimentador con el historial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Doostan, Sohrabi y Chowdhury (2019); Melagoda y otros (2021)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000" y="130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Tiempo sin poda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Guikema, Davidson y Liu (2006); Pan (2021)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258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Riesgo con capacidad fija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Dokic y Kezunovic (2019); Arunraj y Maiti (2007); Correa Tamayo y otros (2019)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000" y="258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Percentiles y pesos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Manual de indicadores compuestos de la OCDE y el JRC (2008)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386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SAIDI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Guía IEEE 1366; Norma Técnica de Calidad de los Servicios Eléctricos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000" y="3860000"/>
            <a:ext cx="5496000" cy="115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80000" rIns="180000" tIns="60000" bIns="6000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2F55"/>
                </a:solidFill>
                <a:latin typeface="Arial"/>
              </a:rPr>
              <a:t>Evaluación del modelo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A26"/>
                </a:solidFill>
                <a:latin typeface="Arial"/>
              </a:rPr>
              <a:t>Saito y Rehmsmeier (2015); Cerqueira, Torgo y Mozetič (2020); Niculescu Mizil y Caruana (2005)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1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1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1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31A26"/>
                </a:solidFill>
                <a:latin typeface="Arial"/>
              </a:rPr>
              <a:t>Recomendación 2: estructura y calidad de los datos para escalar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E5A6E"/>
                </a:solidFill>
                <a:latin typeface="Arial"/>
              </a:rPr>
              <a:t>El proceso semanal valida cada entrega contra un contrato de datos y se detiene si falta algo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000" y="6498000"/>
            <a:ext cx="5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4E5A6E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300000"/>
            <a:ext cx="2400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Interrupciones diarias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0000" y="1300000"/>
            <a:ext cx="4300000" cy="6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A26"/>
                </a:solidFill>
                <a:latin typeface="Arial"/>
              </a:rPr>
              <a:t>Fuente principal. Buena calidad; la causa no ubicada es ambigua y el punto de falla no registra el poste.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1980000"/>
            <a:ext cx="2400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Registro de poda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000" y="1980000"/>
            <a:ext cx="4300000" cy="6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A26"/>
                </a:solidFill>
                <a:latin typeface="Arial"/>
              </a:rPr>
              <a:t>El 84 % trae la subestación en el circuito. Incompleto fuera de Los Olivos.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2660000"/>
            <a:ext cx="2400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Ranking de SAIDI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000" y="2660000"/>
            <a:ext cx="4300000" cy="6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A26"/>
                </a:solidFill>
                <a:latin typeface="Arial"/>
              </a:rPr>
              <a:t>SAIDI del último año por alimentador. Buena calidad.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3340000"/>
            <a:ext cx="2400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Guía de subestaciones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0000" y="3340000"/>
            <a:ext cx="4300000" cy="6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A26"/>
                </a:solidFill>
                <a:latin typeface="Arial"/>
              </a:rPr>
              <a:t>Alimentador, coordenadas, clientes, potencia y tipo de construcción. Base del mapa.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00" y="4020000"/>
            <a:ext cx="2400000" cy="60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2F55"/>
                </a:solidFill>
                <a:latin typeface="Arial"/>
              </a:rPr>
              <a:t>Postes de media tensión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0000" y="4020000"/>
            <a:ext cx="4300000" cy="6000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</a:ln>
        </p:spPr>
        <p:txBody>
          <a:bodyPr rtlCol="0" anchor="ctr" wrap="square" lIns="100000" rIns="100000" tIns="60000" bIns="6000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A26"/>
                </a:solidFill>
                <a:latin typeface="Arial"/>
              </a:rPr>
              <a:t>Código, coordenadas y distrito, sin alimentador ni subestación.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0" y="1300000"/>
            <a:ext cx="4092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5AA1"/>
                </a:solidFill>
                <a:latin typeface="Arial"/>
              </a:rPr>
              <a:t>Para acordar con Pluz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000" y="1750000"/>
            <a:ext cx="4092000" cy="3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Poste o tramo de cada interrupción,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para bajar del alimentador al tramo.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Subestación y tipo de cada poda,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preventiva o correctiva.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Inventario de vegetación,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aunque sea por muestreo, para anticipar el primer corte.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Mismos nombres de columnas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entre entregas, o aviso de los cambios.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70000"/>
          </a:xfrm>
          <a:prstGeom prst="rect">
            <a:avLst/>
          </a:prstGeom>
          <a:solidFill>
            <a:srgbClr val="395A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2316480" cy="170000"/>
          </a:xfrm>
          <a:prstGeom prst="rect">
            <a:avLst/>
          </a:prstGeom>
          <a:solidFill>
            <a:srgbClr val="FCC1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480" cy="170000"/>
          </a:xfrm>
          <a:prstGeom prst="rect">
            <a:avLst/>
          </a:prstGeom>
          <a:solidFill>
            <a:srgbClr val="6CAC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900000"/>
            <a:ext cx="64000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131A26"/>
                </a:solidFill>
                <a:latin typeface="Arial"/>
              </a:rPr>
              <a:t>Pruebe la herramienta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E5A6E"/>
                </a:solidFill>
                <a:latin typeface="Arial"/>
              </a:rPr>
              <a:t>Escanee el código o abra el enlace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300000"/>
            <a:ext cx="6400000" cy="4600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</p:spPr>
        <p:txBody>
          <a:bodyPr rtlCol="0" anchor="ctr" wrap="square" tIns="60000" bIns="6000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D2F55"/>
                </a:solidFill>
                <a:latin typeface="Arial"/>
              </a:rPr>
              <a:t>https://ricardoamiel.github.io/CDC-Pluz-Poda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000000"/>
            <a:ext cx="6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95AA1"/>
                </a:solidFill>
                <a:latin typeface="Arial"/>
              </a:rPr>
              <a:t>Lo que sigue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450000"/>
            <a:ext cx="6400000" cy="2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Medir el avance: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marcar en la herramienta lo ya podado, preventivo o correctivo.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Medir el acierto: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seguimiento de cada plan tres meses después.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00" b="1" i="0">
                <a:solidFill>
                  <a:srgbClr val="131A26"/>
                </a:solidFill>
                <a:latin typeface="Arial"/>
              </a:rPr>
              <a:t>Bajar de nivel: </a:t>
            </a:r>
            <a:r>
              <a:rPr sz="1300" b="0" i="0">
                <a:solidFill>
                  <a:srgbClr val="131A26"/>
                </a:solidFill>
                <a:latin typeface="Arial"/>
              </a:rPr>
              <a:t>reloj de poda por subestación y vínculo entre interrupción y tramo.</a:t>
            </a:r>
          </a:p>
        </p:txBody>
      </p:sp>
      <p:pic>
        <p:nvPicPr>
          <p:cNvPr id="9" name="Picture 8" descr="pluz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5900000"/>
            <a:ext cx="1100000" cy="56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79300" y="1287300"/>
            <a:ext cx="4025400" cy="4025400"/>
          </a:xfrm>
          <a:prstGeom prst="rect">
            <a:avLst/>
          </a:prstGeom>
          <a:noFill/>
          <a:ln w="12700">
            <a:solidFill>
              <a:srgbClr val="C2CEE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qrcode_409777093_3a34ffe28abd7d4b761a091339debe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000" y="1300000"/>
            <a:ext cx="4000000" cy="4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