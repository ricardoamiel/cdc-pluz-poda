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vector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vector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7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7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7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pluz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600000"/>
            <a:ext cx="1500000" cy="76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0000" y="1750000"/>
            <a:ext cx="11192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 i="0">
                <a:solidFill>
                  <a:srgbClr val="131A26"/>
                </a:solidFill>
                <a:latin typeface="Arial"/>
              </a:rPr>
              <a:t>Modelo de contraste y prueba de usuario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4E5A6E"/>
                </a:solidFill>
                <a:latin typeface="Arial"/>
              </a:rPr>
              <a:t>Cambios de la semana 11, tras la reunión N°3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3500000"/>
            <a:ext cx="11192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D2F55"/>
                </a:solidFill>
                <a:latin typeface="Arial"/>
              </a:rPr>
              <a:t>DS5045 Ciencia de Datos Computacionales · Pluz Energía y UTEC · Grupo 2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Herramienta: ricardoamiel.github.io/CDC-Pluz-Poda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E5A6E"/>
                </a:solidFill>
                <a:latin typeface="Arial"/>
              </a:rPr>
              <a:t>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Lo que nos pidieron y cómo lo resolvimos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400000"/>
            <a:ext cx="4300000" cy="90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A26"/>
                </a:solidFill>
                <a:latin typeface="Arial"/>
              </a:rPr>
              <a:t>Probar un segundo modelo en el mapa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00" y="1400000"/>
            <a:ext cx="6692000" cy="9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D2F55"/>
                </a:solidFill>
                <a:latin typeface="Arial"/>
              </a:rPr>
              <a:t>XGBoost como modelo de contraste, con un selector en la pestaña del piloto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000" y="2450000"/>
            <a:ext cx="4300000" cy="90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A26"/>
                </a:solidFill>
                <a:latin typeface="Arial"/>
              </a:rPr>
              <a:t>Ver cuánto cambia el ranking de criticidad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0000" y="2450000"/>
            <a:ext cx="6692000" cy="9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D2F55"/>
                </a:solidFill>
                <a:latin typeface="Arial"/>
              </a:rPr>
              <a:t>Franja de comparación, puestos que suben o bajan y la lista de las que entran o salen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000" y="3500000"/>
            <a:ext cx="4300000" cy="90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A26"/>
                </a:solidFill>
                <a:latin typeface="Arial"/>
              </a:rPr>
              <a:t>Pruebas de usuario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0000" y="3500000"/>
            <a:ext cx="6692000" cy="9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D2F55"/>
                </a:solidFill>
                <a:latin typeface="Arial"/>
              </a:rPr>
              <a:t>Recorrido de seis tareas en el papel de un analista sin formación técnica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00" y="4550000"/>
            <a:ext cx="4300000" cy="90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1A26"/>
                </a:solidFill>
                <a:latin typeface="Arial"/>
              </a:rPr>
              <a:t>Mejorar lo que confunde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0000" y="4550000"/>
            <a:ext cx="6692000" cy="9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D2F55"/>
                </a:solidFill>
                <a:latin typeface="Arial"/>
              </a:rPr>
              <a:t>Seis mejoras rápidas aplicadas: unidades, redacción, fecha, capacidad y descarga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El modelo 2: XGBoost como modelo de contraste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Mismas variables y mismos meses que el modelo vigente; solo cambia el algoritmo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350000"/>
            <a:ext cx="5446000" cy="325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t" wrap="square" lIns="200000" rIns="200000" tIns="60000" bIns="60000"/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395AA1"/>
                </a:solidFill>
                <a:latin typeface="Arial"/>
              </a:rPr>
              <a:t>Cómo se arma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Historial de vegetación, vegetación de 12 meses, interrupciones de 12 meses y estacionalidad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Hiperparámetros del benchmark: 49 árboles de profundidad 3, tasa de aprendizaje 0,05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Se entrena una sola vez junto al modelo vigente y se reutiliza mientras este no cambie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Las razones de cada puesto salen de las contribuciones del propio XGBoost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6000" y="1350000"/>
            <a:ext cx="5446000" cy="4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60000" bIns="60000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95AA1"/>
                </a:solidFill>
                <a:latin typeface="Arial"/>
              </a:rPr>
              <a:t>Benchmark, prueba de enero a mayo de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1000" y="1900000"/>
            <a:ext cx="2693000" cy="48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Métrica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4000" y="1900000"/>
            <a:ext cx="1331500" cy="48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Logística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45500" y="1900000"/>
            <a:ext cx="1331500" cy="48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XGBoost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1000" y="2420000"/>
            <a:ext cx="26930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PR AUC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4000" y="2420000"/>
            <a:ext cx="13315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0,401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45500" y="2420000"/>
            <a:ext cx="13315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0,396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1000" y="2940000"/>
            <a:ext cx="26930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ROC AUC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4000" y="2940000"/>
            <a:ext cx="13315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0,758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45500" y="2940000"/>
            <a:ext cx="13315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0,753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1000" y="3460000"/>
            <a:ext cx="26930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Exhaustividad con 270 alertas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4000" y="3460000"/>
            <a:ext cx="13315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82,8 %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45500" y="3460000"/>
            <a:ext cx="13315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81,8 %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1000" y="3980000"/>
            <a:ext cx="26930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Brier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4000" y="3980000"/>
            <a:ext cx="13315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0,122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45500" y="3980000"/>
            <a:ext cx="13315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0,122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0000" y="4900000"/>
            <a:ext cx="10492000" cy="38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XGBoost rinde casi igual, pero no supera a la logística: se queda como contraste, no como reemplazo.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00" y="5450000"/>
            <a:ext cx="11192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1" i="0">
                <a:solidFill>
                  <a:srgbClr val="131A26"/>
                </a:solidFill>
                <a:latin typeface="Arial"/>
              </a:rPr>
              <a:t>Para qué sirve: </a:t>
            </a:r>
            <a:r>
              <a:rPr sz="1400" b="0" i="0">
                <a:solidFill>
                  <a:srgbClr val="131A26"/>
                </a:solidFill>
                <a:latin typeface="Arial"/>
              </a:rPr>
              <a:t>comprobar que el plan no depende del algoritmo elegido. Si dos modelos distintos coinciden, la decisión es robusta.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Cómo se ve en la herramienta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Selector Modelo de riesgo en la pestaña del piloto; abre con el vigente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1250000"/>
            <a:ext cx="11192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Modelo 1 · Vigente: regresión logística, el que define el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1569867" y="1517300"/>
            <a:ext cx="9052265" cy="2125400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m1_cont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567" y="1530000"/>
            <a:ext cx="9026865" cy="21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000" y="3750000"/>
            <a:ext cx="11192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Modelo 2 · Contraste: XGBoost. El mapa, la lista, los indicadores y el detalle se recalculan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69867" y="4017300"/>
            <a:ext cx="9052265" cy="2125400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m2_contro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567" y="4030000"/>
            <a:ext cx="9026865" cy="21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¿Cuánto cambia el ranking de criticidad? Casi nada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Puesto de cada unidad con el modelo vigente frente al de contraste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5</a:t>
            </a:r>
          </a:p>
        </p:txBody>
      </p:sp>
      <p:pic>
        <p:nvPicPr>
          <p:cNvPr id="7" name="Picture 6" descr="puestos_modelos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3777" y="1250000"/>
            <a:ext cx="9444444" cy="4250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0000" y="5650000"/>
            <a:ext cx="10492000" cy="38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Por alimentador el plan es idéntico, 10 de 10. Por subestación coinciden 73 de 76. La decisión no cambia.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6100000"/>
            <a:ext cx="11192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E5A6E"/>
                </a:solidFill>
                <a:latin typeface="Arial"/>
              </a:rPr>
              <a:t>La probabilidad pesa 0,40 en el índice y los dos modelos la ordenan casi igual; los otros tres componentes no dependen del modelo.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Dónde se ve la diferencia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Vista por subestación con el modelo de contraste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5109" y="1237300"/>
            <a:ext cx="8821780" cy="1375400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m2_sed_fran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809" y="1250000"/>
            <a:ext cx="8796380" cy="135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87603" y="2737300"/>
            <a:ext cx="2724793" cy="3425400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m2_li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303" y="2750000"/>
            <a:ext cx="2699393" cy="34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00000" y="2850000"/>
            <a:ext cx="6792000" cy="3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Franja de comparación: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cuántas unidades del plan coinciden y la correlación de orden; se recalcula al mover el tamaño del plan.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Entran y salen: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con el contraste entran tres subestaciones y salen otras tres, todas cerca del borde del plan.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En la lista: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▲ o ▼ indica cuántos puestos sube o baja cada unidad frente al otro modelo.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En el detalle: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el puesto de la unidad con el otro modelo.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Enlace directo: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agregar ?modelo=2 a la dirección abre la página con XGBoost.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Prueba de usuario: un analista que abre la herramienta por primera vez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Conoce la red y el SAIDI, trabaja en Excel y no sabe de modelos. Seis tareas de un lunes 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300000"/>
            <a:ext cx="1782000" cy="6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50000" rIns="50000" tIns="60000" bIns="600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D2F55"/>
                </a:solidFill>
                <a:latin typeface="Arial"/>
              </a:rPr>
              <a:t>1. Entender qué 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82000" y="1300000"/>
            <a:ext cx="1782000" cy="6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50000" rIns="50000" tIns="60000" bIns="600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D2F55"/>
                </a:solidFill>
                <a:latin typeface="Arial"/>
              </a:rPr>
              <a:t>2. Qué podar este 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4000" y="1300000"/>
            <a:ext cx="1782000" cy="6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50000" rIns="50000" tIns="60000" bIns="600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D2F55"/>
                </a:solidFill>
                <a:latin typeface="Arial"/>
              </a:rPr>
              <a:t>3. Por qué está primero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6000" y="1300000"/>
            <a:ext cx="1782000" cy="6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50000" rIns="50000" tIns="60000" bIns="600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D2F55"/>
                </a:solidFill>
                <a:latin typeface="Arial"/>
              </a:rPr>
              <a:t>4. Pasar el plan a la cuadrilla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000" y="1300000"/>
            <a:ext cx="1782000" cy="6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50000" rIns="50000" tIns="60000" bIns="600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D2F55"/>
                </a:solidFill>
                <a:latin typeface="Arial"/>
              </a:rPr>
              <a:t>5. Comparar con otro distrito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10000" y="1300000"/>
            <a:ext cx="1782000" cy="6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50000" rIns="50000" tIns="60000" bIns="600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D2F55"/>
                </a:solidFill>
                <a:latin typeface="Arial"/>
              </a:rPr>
              <a:t>6. Usar el selector de modelo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2100000"/>
            <a:ext cx="1119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95AA1"/>
                </a:solidFill>
                <a:latin typeface="Arial"/>
              </a:rPr>
              <a:t>Lo fuerte de la herramienta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" y="2550000"/>
            <a:ext cx="5446000" cy="3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1" i="0">
                <a:solidFill>
                  <a:srgbClr val="131A26"/>
                </a:solidFill>
                <a:latin typeface="Arial"/>
              </a:rPr>
              <a:t>Responde la pregunta del lunes </a:t>
            </a:r>
            <a:r>
              <a:rPr sz="1400" b="0" i="0">
                <a:solidFill>
                  <a:srgbClr val="131A26"/>
                </a:solidFill>
                <a:latin typeface="Arial"/>
              </a:rPr>
              <a:t>en una pantalla: qué podar, en qué orden y a cuántos clientes protege.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1" i="0">
                <a:solidFill>
                  <a:srgbClr val="131A26"/>
                </a:solidFill>
                <a:latin typeface="Arial"/>
              </a:rPr>
              <a:t>Explica cada puesto: </a:t>
            </a:r>
            <a:r>
              <a:rPr sz="1400" b="0" i="0">
                <a:solidFill>
                  <a:srgbClr val="131A26"/>
                </a:solidFill>
                <a:latin typeface="Arial"/>
              </a:rPr>
              <a:t>ninguna fila es una caja cerrada; se ve de qué se compone el índice y por qué.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1" i="0">
                <a:solidFill>
                  <a:srgbClr val="131A26"/>
                </a:solidFill>
                <a:latin typeface="Arial"/>
              </a:rPr>
              <a:t>Mapa, lista, curva y detalle enlazados: </a:t>
            </a:r>
            <a:r>
              <a:rPr sz="1400" b="0" i="0">
                <a:solidFill>
                  <a:srgbClr val="131A26"/>
                </a:solidFill>
                <a:latin typeface="Arial"/>
              </a:rPr>
              <a:t>un clic en uno se refleja en todos.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6000" y="2550000"/>
            <a:ext cx="5446000" cy="3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1" i="0">
                <a:solidFill>
                  <a:srgbClr val="131A26"/>
                </a:solidFill>
                <a:latin typeface="Arial"/>
              </a:rPr>
              <a:t>Se ajusta a la capacidad </a:t>
            </a:r>
            <a:r>
              <a:rPr sz="1400" b="0" i="0">
                <a:solidFill>
                  <a:srgbClr val="131A26"/>
                </a:solidFill>
                <a:latin typeface="Arial"/>
              </a:rPr>
              <a:t>con un solo control, y la curva muestra cuánto rinde estirar el plan.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1" i="0">
                <a:solidFill>
                  <a:srgbClr val="131A26"/>
                </a:solidFill>
                <a:latin typeface="Arial"/>
              </a:rPr>
              <a:t>Se abre con un enlace, </a:t>
            </a:r>
            <a:r>
              <a:rPr sz="1400" b="0" i="0">
                <a:solidFill>
                  <a:srgbClr val="131A26"/>
                </a:solidFill>
                <a:latin typeface="Arial"/>
              </a:rPr>
              <a:t>también en el teléfono, y el plan se descarga para Excel.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1" i="0">
                <a:solidFill>
                  <a:srgbClr val="131A26"/>
                </a:solidFill>
                <a:latin typeface="Arial"/>
              </a:rPr>
              <a:t>Es honesta con sus límites: </a:t>
            </a:r>
            <a:r>
              <a:rPr sz="1400" b="0" i="0">
                <a:solidFill>
                  <a:srgbClr val="131A26"/>
                </a:solidFill>
                <a:latin typeface="Arial"/>
              </a:rPr>
              <a:t>dice qué no está medido y que no reemplaza la inspección en campo.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Mejoras rápidas aplicadas: lo que confundía al usuario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Antes y después, sin tocar el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300" y="1489730"/>
            <a:ext cx="5525400" cy="1820538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piloto_cabecera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502430"/>
            <a:ext cx="5500000" cy="179513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87300" y="1357550"/>
            <a:ext cx="5517400" cy="2084900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m1_cabec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00" y="1370250"/>
            <a:ext cx="5492000" cy="2059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0000" y="3600000"/>
            <a:ext cx="55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E5A6E"/>
                </a:solidFill>
                <a:latin typeface="Arial"/>
              </a:rPr>
              <a:t>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000" y="3600000"/>
            <a:ext cx="5492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E5A6E"/>
                </a:solidFill>
                <a:latin typeface="Arial"/>
              </a:rPr>
              <a:t>Después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00" y="3950000"/>
            <a:ext cx="40000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E5A6E"/>
                </a:solidFill>
                <a:latin typeface="Arial"/>
              </a:rPr>
              <a:t>Corte 2026 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50000" y="3950000"/>
            <a:ext cx="7042000" cy="48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Datos al 20 de agosto de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000" y="4490000"/>
            <a:ext cx="40000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E5A6E"/>
                </a:solidFill>
                <a:latin typeface="Arial"/>
              </a:rPr>
              <a:t>SAIDI 5,54, sin unidad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50000" y="4490000"/>
            <a:ext cx="7042000" cy="48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5,54 min de SAIDI del último año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0000" y="5030000"/>
            <a:ext cx="40000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E5A6E"/>
                </a:solidFill>
                <a:latin typeface="Arial"/>
              </a:rPr>
              <a:t>Tamaño del plan 10, sin explicación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50000" y="5030000"/>
            <a:ext cx="7042000" cy="48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Un tercio de los alimentadores; en un mes típico de 2025 se podaron 76 subestaciones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000" y="5570000"/>
            <a:ext cx="4000000" cy="48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E5A6E"/>
                </a:solidFill>
                <a:latin typeface="Arial"/>
              </a:rPr>
              <a:t>Modelo 1 · Logística y Modelo 2 · XGBoost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50000" y="5570000"/>
            <a:ext cx="7042000" cy="48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Modelo 1 · Vigente y Modelo 2 · Contraste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Mejoras rápidas aplicadas: tooltip, ficha, comparación y descarga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300" y="1138573"/>
            <a:ext cx="3525400" cy="3322853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m1_toolt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151273"/>
            <a:ext cx="3500000" cy="329745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7300" y="4593369"/>
            <a:ext cx="11217400" cy="1463261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cmp_avi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4606069"/>
            <a:ext cx="11192000" cy="14378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0000" y="1250000"/>
            <a:ext cx="7392000" cy="3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Riesgo con nombre: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probabilidad de al menos un corte por vegetación en los próximos 3 meses, en el tooltip, la ficha y la comparación.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SAIDI en minutos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en todas las vistas.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Índice explicado: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100 es la unidad más urgente del distrito.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Plan descargado con encabezados en palabras: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probabilidad en porcentaje, SAIDI en minutos y fecha en el nombre del archivo.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Comparar distritos: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aviso visible de que el color compara dentro de cada distrito, no entre distritos.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7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7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7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900000"/>
            <a:ext cx="64000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 i="0">
                <a:solidFill>
                  <a:srgbClr val="131A26"/>
                </a:solidFill>
                <a:latin typeface="Arial"/>
              </a:rPr>
              <a:t>Pruebe la herramienta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E5A6E"/>
                </a:solidFill>
                <a:latin typeface="Arial"/>
              </a:rPr>
              <a:t>Escanee el código o abra el enlace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2300000"/>
            <a:ext cx="6400000" cy="46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tIns="60000" bIns="6000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D2F55"/>
                </a:solidFill>
                <a:latin typeface="Arial"/>
              </a:rPr>
              <a:t>https://ricardoamiel.github.io/CDC-Pluz-Poda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3000000"/>
            <a:ext cx="64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95AA1"/>
                </a:solidFill>
                <a:latin typeface="Arial"/>
              </a:rPr>
              <a:t>Lo que sigue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3450000"/>
            <a:ext cx="6400000" cy="2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Esfuerzo medio: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enlace a Google Maps por subestación, guía de tres pasos al abrir, novedades de la semana y avenidas en los otros distritos.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Siguiente etapa: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marcar lo ya podado, preventivo o correctivo, y medir aciertos tres meses después.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Para el testeo con Pluz: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qué capacidad usan hoy, qué necesita la cuadrilla para llegar y qué indicador mide el éxito.</a:t>
            </a:r>
          </a:p>
        </p:txBody>
      </p:sp>
      <p:pic>
        <p:nvPicPr>
          <p:cNvPr id="9" name="Picture 8" descr="pluz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5900000"/>
            <a:ext cx="1100000" cy="56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79300" y="1287300"/>
            <a:ext cx="4025400" cy="4025400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qrcode_409777093_3a34ffe28abd7d4b761a091339debe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000" y="1300000"/>
            <a:ext cx="4000000" cy="4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