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1.png" ContentType="image/png"/>
  <Override PartName="/ppt/media/image2.png" ContentType="image/png"/>
  <Override PartName="/ppt/media/image13.png" ContentType="image/png"/>
  <Override PartName="/ppt/media/image4.png" ContentType="image/png"/>
  <Override PartName="/ppt/media/image24.svg" ContentType="image/sv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5.png" ContentType="image/png"/>
  <Override PartName="/ppt/media/image23.png" ContentType="image/png"/>
  <Override PartName="/ppt/media/image22.png" ContentType="image/png"/>
  <Override PartName="/ppt/media/image6.png" ContentType="image/png"/>
  <Override PartName="/ppt/media/image21.png" ContentType="image/png"/>
  <Override PartName="/ppt/media/image19.png" ContentType="image/png"/>
  <Override PartName="/ppt/media/image16.png" ContentType="image/png"/>
  <Override PartName="/ppt/media/image15.svg" ContentType="image/svg"/>
  <Override PartName="/ppt/media/image10.png" ContentType="image/png"/>
  <Override PartName="/ppt/media/image1.png" ContentType="image/png"/>
  <Override PartName="/ppt/media/image5.png" ContentType="image/png"/>
  <Override PartName="/ppt/media/image14.png" ContentType="image/png"/>
  <Override PartName="/ppt/media/image7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7F9222-BFF3-41BB-A923-E35BFDC6A3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833FA1-245B-416E-8A55-80A39DA411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62FA16B-0C43-4F71-B337-AD6FCAA60C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4C14888-6B0C-4205-AFF0-3EE1C03BB6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171A10E-7135-4821-BCA6-CD1F37719F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AC1065B-2130-49A3-A425-F8D0EDEAFF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B472BEA-88E8-4DD0-B3ED-1D4FAE3EEA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E17F3D7-A498-40BD-8374-B17B2A9F5A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4742C2D-5C82-4351-B900-FB3522F739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947CBE0-66FA-4BB3-AF1E-4C7E034AD2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EE60379-1ADD-4DB7-BFC1-C331BA8939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E0C64E-D9C1-4E04-8BA9-E6F4A8DFF1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EF4266-8DC4-40C2-9586-C20D83ADFA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D8583F-3DD1-42AF-9441-7A771BD43B6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44C1C2-7F1B-4340-BCDF-347ACC9D40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073FCD-975B-4E30-911E-1EB9D7DA3B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68F8D9-3A48-4B68-91A8-1363087345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143328-2A03-47EC-8EDD-331DE9A850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498ABD-A82D-4662-83B0-5164145A1D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97083D-A8AE-4E7E-BE23-B713F50374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6B2652-3EFB-4420-B831-2BBFCF559D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31ADA3-9B66-44FC-8488-23636620C41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7558560" cy="16956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7558920" y="0"/>
            <a:ext cx="2316240" cy="16956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9875520" y="0"/>
            <a:ext cx="2316240" cy="16956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0" name="Picture 4" descr="pluz-logo.png"/>
          <p:cNvPicPr/>
          <p:nvPr/>
        </p:nvPicPr>
        <p:blipFill>
          <a:blip r:embed="rId1"/>
          <a:stretch/>
        </p:blipFill>
        <p:spPr>
          <a:xfrm>
            <a:off x="500040" y="600120"/>
            <a:ext cx="1499760" cy="762480"/>
          </a:xfrm>
          <a:prstGeom prst="rect">
            <a:avLst/>
          </a:prstGeom>
          <a:ln w="0">
            <a:noFill/>
          </a:ln>
        </p:spPr>
      </p:pic>
      <p:sp>
        <p:nvSpPr>
          <p:cNvPr id="71" name="TextBox 5"/>
          <p:cNvSpPr/>
          <p:nvPr/>
        </p:nvSpPr>
        <p:spPr>
          <a:xfrm>
            <a:off x="500040" y="1749960"/>
            <a:ext cx="1119168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3800" spc="-1" strike="noStrike">
                <a:solidFill>
                  <a:srgbClr val="131a26"/>
                </a:solidFill>
                <a:latin typeface="Arial"/>
              </a:rPr>
              <a:t>Cambios y correcciones tras la reunión N°3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4e5a6e"/>
                </a:solidFill>
                <a:latin typeface="Arial"/>
              </a:rPr>
              <a:t>Herramienta, modelo, benchmark y flujo semanal de datos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00040" y="3499920"/>
            <a:ext cx="1119168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1d2f55"/>
                </a:solidFill>
                <a:latin typeface="Arial"/>
              </a:rPr>
              <a:t>DS5045 Ciencia de Datos Computacionales · Pluz Energía y UTEC · Grupo 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Herramienta: ricardoamiel.github.io/CDC-Pluz-Poda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Benchmark: ricardoamiel.github.io/CDC-Pluz-Poda/benchmark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4e5a6e"/>
                </a:solidFill>
                <a:latin typeface="Arial"/>
              </a:rPr>
              <a:t>Octubre de 2026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500040" y="299880"/>
            <a:ext cx="11191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Lo que pidieron Pluz y el asesor, y cómo lo resolvimos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500040" y="1400040"/>
            <a:ext cx="4299480" cy="89964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31a26"/>
                </a:solidFill>
                <a:latin typeface="Arial"/>
              </a:rPr>
              <a:t>Evitar redundancia en el riesgo estimado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5000040" y="1400040"/>
            <a:ext cx="6691680" cy="8996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d2f55"/>
                </a:solidFill>
                <a:latin typeface="Arial"/>
              </a:rPr>
              <a:t>El modelo ya no usa reloj de poda, SAIDI ni exposición: esas tres van solo en el índice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8"/>
          <p:cNvSpPr/>
          <p:nvPr/>
        </p:nvSpPr>
        <p:spPr>
          <a:xfrm>
            <a:off x="500040" y="2450160"/>
            <a:ext cx="4299480" cy="89964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31a26"/>
                </a:solidFill>
                <a:latin typeface="Arial"/>
              </a:rPr>
              <a:t>Pensar el filtro de distrito para el uso diario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ounded Rectangle 9"/>
          <p:cNvSpPr/>
          <p:nvPr/>
        </p:nvSpPr>
        <p:spPr>
          <a:xfrm>
            <a:off x="5000040" y="2450160"/>
            <a:ext cx="6691680" cy="8996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d2f55"/>
                </a:solidFill>
                <a:latin typeface="Arial"/>
              </a:rPr>
              <a:t>Pestaña Comparar distritos: el piloto frente a siete distritos de Lima Norte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10"/>
          <p:cNvSpPr/>
          <p:nvPr/>
        </p:nvSpPr>
        <p:spPr>
          <a:xfrm>
            <a:off x="500040" y="3499920"/>
            <a:ext cx="4299480" cy="89964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31a26"/>
                </a:solidFill>
                <a:latin typeface="Arial"/>
              </a:rPr>
              <a:t>SAIDI e interrupciones como indicadores principales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11"/>
          <p:cNvSpPr/>
          <p:nvPr/>
        </p:nvSpPr>
        <p:spPr>
          <a:xfrm>
            <a:off x="5000040" y="3499920"/>
            <a:ext cx="6691680" cy="8996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d2f55"/>
                </a:solidFill>
                <a:latin typeface="Arial"/>
              </a:rPr>
              <a:t>Reemplazan a la potencia y al índice mínimo, en los indicadores y en el tooltip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ounded Rectangle 12"/>
          <p:cNvSpPr/>
          <p:nvPr/>
        </p:nvSpPr>
        <p:spPr>
          <a:xfrm>
            <a:off x="500040" y="4550040"/>
            <a:ext cx="4299480" cy="89964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31a26"/>
                </a:solidFill>
                <a:latin typeface="Arial"/>
              </a:rPr>
              <a:t>Compartir el proceso de automatización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13"/>
          <p:cNvSpPr/>
          <p:nvPr/>
        </p:nvSpPr>
        <p:spPr>
          <a:xfrm>
            <a:off x="5000040" y="4550040"/>
            <a:ext cx="6691680" cy="89964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d2f55"/>
                </a:solidFill>
                <a:latin typeface="Arial"/>
              </a:rPr>
              <a:t>Pipeline semanal, modelo estable con monitoreo, dos arquitecturas y una demostración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La herramienta: piloto explícito y nuevos indicadores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Pestaña Piloto Los Olivos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6"/>
          <p:cNvSpPr/>
          <p:nvPr/>
        </p:nvSpPr>
        <p:spPr>
          <a:xfrm>
            <a:off x="721440" y="1237320"/>
            <a:ext cx="10748520" cy="352512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2" name="Picture 7" descr="piloto_cabecera_c.png"/>
          <p:cNvPicPr/>
          <p:nvPr/>
        </p:nvPicPr>
        <p:blipFill>
          <a:blip r:embed="rId1"/>
          <a:stretch/>
        </p:blipFill>
        <p:spPr>
          <a:xfrm>
            <a:off x="734400" y="1249920"/>
            <a:ext cx="10722960" cy="3499560"/>
          </a:xfrm>
          <a:prstGeom prst="rect">
            <a:avLst/>
          </a:prstGeom>
          <a:ln w="0">
            <a:noFill/>
          </a:ln>
        </p:spPr>
      </p:pic>
      <p:sp>
        <p:nvSpPr>
          <p:cNvPr id="93" name="TextBox 8"/>
          <p:cNvSpPr/>
          <p:nvPr/>
        </p:nvSpPr>
        <p:spPr>
          <a:xfrm>
            <a:off x="500040" y="4950000"/>
            <a:ext cx="1119168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Insignia Piloto Los Olivos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en el encabezado, y dos pestañas: el piloto y la comparación de distritos.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SAIDI e interrupciones del último año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reemplazan a la potencia y al índice mínimo; en la vista por subestación se suman una vez por alimentador.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El mismo tooltip en las dos pestañas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Cinco datos, en el mismo orden, al pasar el puntero por el mapa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6"/>
          <p:cNvSpPr/>
          <p:nvPr/>
        </p:nvSpPr>
        <p:spPr>
          <a:xfrm>
            <a:off x="1066680" y="1237320"/>
            <a:ext cx="4312080" cy="342504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0" name="Picture 7" descr="tooltip_piloto.png"/>
          <p:cNvPicPr/>
          <p:nvPr/>
        </p:nvPicPr>
        <p:blipFill>
          <a:blip r:embed="rId1"/>
          <a:stretch/>
        </p:blipFill>
        <p:spPr>
          <a:xfrm>
            <a:off x="1079640" y="1249920"/>
            <a:ext cx="4286520" cy="3399480"/>
          </a:xfrm>
          <a:prstGeom prst="rect">
            <a:avLst/>
          </a:prstGeom>
          <a:ln w="0">
            <a:noFill/>
          </a:ln>
        </p:spPr>
      </p:pic>
      <p:sp>
        <p:nvSpPr>
          <p:cNvPr id="101" name="Rectangle 8"/>
          <p:cNvSpPr/>
          <p:nvPr/>
        </p:nvSpPr>
        <p:spPr>
          <a:xfrm>
            <a:off x="6869880" y="1237320"/>
            <a:ext cx="4197600" cy="342504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2" name="Picture 9" descr="tooltip_comparar.png"/>
          <p:cNvPicPr/>
          <p:nvPr/>
        </p:nvPicPr>
        <p:blipFill>
          <a:blip r:embed="rId2"/>
          <a:stretch/>
        </p:blipFill>
        <p:spPr>
          <a:xfrm>
            <a:off x="6882480" y="1249920"/>
            <a:ext cx="4172400" cy="3399480"/>
          </a:xfrm>
          <a:prstGeom prst="rect">
            <a:avLst/>
          </a:prstGeom>
          <a:ln w="0">
            <a:noFill/>
          </a:ln>
        </p:spPr>
      </p:pic>
      <p:sp>
        <p:nvSpPr>
          <p:cNvPr id="103" name="TextBox 10"/>
          <p:cNvSpPr/>
          <p:nvPr/>
        </p:nvSpPr>
        <p:spPr>
          <a:xfrm>
            <a:off x="500040" y="4700160"/>
            <a:ext cx="5445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4e5a6e"/>
                </a:solidFill>
                <a:latin typeface="Arial"/>
              </a:rPr>
              <a:t>Piloto Los Olivos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1"/>
          <p:cNvSpPr/>
          <p:nvPr/>
        </p:nvSpPr>
        <p:spPr>
          <a:xfrm>
            <a:off x="6246000" y="4700160"/>
            <a:ext cx="54457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4e5a6e"/>
                </a:solidFill>
                <a:latin typeface="Arial"/>
              </a:rPr>
              <a:t>Comparar distritos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12"/>
          <p:cNvSpPr/>
          <p:nvPr/>
        </p:nvSpPr>
        <p:spPr>
          <a:xfrm>
            <a:off x="529920" y="5150160"/>
            <a:ext cx="2178000" cy="51948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040" rIns="50040" tIns="60120" bIns="601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1. Riesgo a 3 meses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13"/>
          <p:cNvSpPr/>
          <p:nvPr/>
        </p:nvSpPr>
        <p:spPr>
          <a:xfrm>
            <a:off x="2768400" y="5150160"/>
            <a:ext cx="2178000" cy="51948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040" rIns="50040" tIns="60120" bIns="601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2. Sin poda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14"/>
          <p:cNvSpPr/>
          <p:nvPr/>
        </p:nvSpPr>
        <p:spPr>
          <a:xfrm>
            <a:off x="5006880" y="5150160"/>
            <a:ext cx="2178000" cy="51948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040" rIns="50040" tIns="60120" bIns="601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3. Clientes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15"/>
          <p:cNvSpPr/>
          <p:nvPr/>
        </p:nvSpPr>
        <p:spPr>
          <a:xfrm>
            <a:off x="7245360" y="5150160"/>
            <a:ext cx="2178000" cy="51948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040" rIns="50040" tIns="60120" bIns="601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4. SAIDI, último año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16"/>
          <p:cNvSpPr/>
          <p:nvPr/>
        </p:nvSpPr>
        <p:spPr>
          <a:xfrm>
            <a:off x="9483480" y="5150160"/>
            <a:ext cx="2178000" cy="51948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040" rIns="50040" tIns="60120" bIns="601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5. Interrupciones, último año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7"/>
          <p:cNvSpPr/>
          <p:nvPr/>
        </p:nvSpPr>
        <p:spPr>
          <a:xfrm>
            <a:off x="500040" y="5780160"/>
            <a:ext cx="11191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e5a6e"/>
                </a:solidFill>
                <a:latin typeface="Arial"/>
              </a:rPr>
              <a:t>Sin poda distingue «podado este mes» de «sin poda registrada» desde enero de 2025; antes este segundo caso aparecía como 24 meses.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Comparar distritos: el piloto al lado de otro distrito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Mismo modelo, mismos componentes y mismos pesos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6"/>
          <p:cNvSpPr/>
          <p:nvPr/>
        </p:nvSpPr>
        <p:spPr>
          <a:xfrm>
            <a:off x="574560" y="1237320"/>
            <a:ext cx="7150680" cy="482508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7" name="Picture 7" descr="comparar_vista_c.png"/>
          <p:cNvPicPr/>
          <p:nvPr/>
        </p:nvPicPr>
        <p:blipFill>
          <a:blip r:embed="rId1"/>
          <a:stretch/>
        </p:blipFill>
        <p:spPr>
          <a:xfrm>
            <a:off x="587160" y="1249920"/>
            <a:ext cx="7125480" cy="4799520"/>
          </a:xfrm>
          <a:prstGeom prst="rect">
            <a:avLst/>
          </a:prstGeom>
          <a:ln w="0">
            <a:noFill/>
          </a:ln>
        </p:spPr>
      </p:pic>
      <p:sp>
        <p:nvSpPr>
          <p:cNvPr id="118" name="TextBox 8"/>
          <p:cNvSpPr/>
          <p:nvPr/>
        </p:nvSpPr>
        <p:spPr>
          <a:xfrm>
            <a:off x="8049960" y="1450080"/>
            <a:ext cx="3641760" cy="24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Siete distritos: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San Juan de Lurigancho, Carabayllo, Callao, Puente Piedra, San Martín de Porres, Ventanilla y Comas.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Panel de cifras: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lo comparable en términos absolutos, una fila por indicador.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Mapas: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el índice es percentil dentro de cada distrito, con la misma escala de 0 a 100.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Cuánta vegetación hay: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sin inventario de arbolado, se aproxima con cortes por cada 100 subestaciones aéreas.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Modelo sin redundancia con el índice de criticidad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El índice suma la probabilidad del modelo y tres variables propias; el modelo no usa ninguna de esas tres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6"/>
          <p:cNvSpPr/>
          <p:nvPr/>
        </p:nvSpPr>
        <p:spPr>
          <a:xfrm>
            <a:off x="500040" y="1350000"/>
            <a:ext cx="5445720" cy="329976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0160" rIns="200160" tIns="60120" bIns="60120" anchor="t">
            <a:no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395aa1"/>
                </a:solidFill>
                <a:latin typeface="Arial"/>
              </a:rPr>
              <a:t>El modelo usa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131a26"/>
                </a:solidFill>
                <a:latin typeface="Arial"/>
              </a:rPr>
              <a:t>Historial acumulado de vegetación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131a26"/>
                </a:solidFill>
                <a:latin typeface="Arial"/>
              </a:rPr>
              <a:t>Eventos de vegetación de los últimos 12 meses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131a26"/>
                </a:solidFill>
                <a:latin typeface="Arial"/>
              </a:rPr>
              <a:t>Interrupciones totales de los últimos 12 meses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31a26"/>
                </a:solidFill>
                <a:latin typeface="Arial"/>
              </a:rPr>
              <a:t>Estacionalidad del mes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6246000" y="1350000"/>
            <a:ext cx="5445720" cy="329976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0160" rIns="200160" tIns="60120" bIns="60120" anchor="t">
            <a:no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395aa1"/>
                </a:solidFill>
                <a:latin typeface="Arial"/>
              </a:rPr>
              <a:t>El índice suma además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131a26"/>
                </a:solidFill>
                <a:latin typeface="Arial"/>
              </a:rPr>
              <a:t>Reloj de poda: meses desde la última poda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131a26"/>
                </a:solidFill>
                <a:latin typeface="Arial"/>
              </a:rPr>
              <a:t>Criticidad: SAIDI del último año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131a26"/>
                </a:solidFill>
                <a:latin typeface="Arial"/>
              </a:rPr>
              <a:t>Exposición: clientes y potencia instalada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e5a6e"/>
                </a:solidFill>
                <a:latin typeface="Arial"/>
              </a:rPr>
              <a:t>Pesos: probabilidad 0,40 y 0,20 cada una de las otras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500040" y="4849920"/>
            <a:ext cx="1119168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Los meses sin poda salieron del modelo en esta revisión: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su aporte ya era nulo y el resultado no cambió.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Las interrupciones se quedan porque Pluz las pidió,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aunque tienen correlación de 0,82 con el SAIDI: queda por decidir con la empresa.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Cómo se comporta el modelo: monotónico y calibrado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En cada tramo, el promedio que predice el modelo frente a la frecuencia real observada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6" descr="variables_monotonicas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00040" y="1368000"/>
            <a:ext cx="11191680" cy="2664000"/>
          </a:xfrm>
          <a:prstGeom prst="rect">
            <a:avLst/>
          </a:prstGeom>
          <a:ln w="0">
            <a:noFill/>
          </a:ln>
        </p:spPr>
      </p:pic>
      <p:sp>
        <p:nvSpPr>
          <p:cNvPr id="133" name="TextBox 7"/>
          <p:cNvSpPr/>
          <p:nvPr/>
        </p:nvSpPr>
        <p:spPr>
          <a:xfrm>
            <a:off x="500040" y="4349880"/>
            <a:ext cx="11191680" cy="12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Monotónico creciente: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más historial de vegetación, más vegetación reciente o más interrupciones, más riesgo. Nunca al revés.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Rendimientos decrecientes: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los conteos entran en logaritmo, así que el riesgo sube rápido al inicio y luego se aplana.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Calibrado: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la línea del modelo pasa por los puntos observados; un 30 % del modelo significa 30 de cada 100.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La estacionalidad casi no pesa: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razón de momios entre 1,00 y 1,04.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Benchmark: ¿regresión logística o un modelo más complejo?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Reporte interactivo publicado en ricardoamiel.github.io/CDC-Pluz-Poda/benchmark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6"/>
          <p:cNvSpPr/>
          <p:nvPr/>
        </p:nvSpPr>
        <p:spPr>
          <a:xfrm>
            <a:off x="487440" y="1364400"/>
            <a:ext cx="6225120" cy="217116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0" name="Picture 7" descr="b_decision.png"/>
          <p:cNvPicPr/>
          <p:nvPr/>
        </p:nvPicPr>
        <p:blipFill>
          <a:blip r:embed="rId1"/>
          <a:stretch/>
        </p:blipFill>
        <p:spPr>
          <a:xfrm>
            <a:off x="500040" y="1377000"/>
            <a:ext cx="6199560" cy="2145960"/>
          </a:xfrm>
          <a:prstGeom prst="rect">
            <a:avLst/>
          </a:prstGeom>
          <a:ln w="0">
            <a:noFill/>
          </a:ln>
        </p:spPr>
      </p:pic>
      <p:sp>
        <p:nvSpPr>
          <p:cNvPr id="141" name="Rectangle 8"/>
          <p:cNvSpPr/>
          <p:nvPr/>
        </p:nvSpPr>
        <p:spPr>
          <a:xfrm>
            <a:off x="487440" y="4009680"/>
            <a:ext cx="6225120" cy="198036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2" name="Picture 9" descr="b_barras.png"/>
          <p:cNvPicPr/>
          <p:nvPr/>
        </p:nvPicPr>
        <p:blipFill>
          <a:blip r:embed="rId2"/>
          <a:stretch/>
        </p:blipFill>
        <p:spPr>
          <a:xfrm>
            <a:off x="500040" y="4022280"/>
            <a:ext cx="6199560" cy="1955160"/>
          </a:xfrm>
          <a:prstGeom prst="rect">
            <a:avLst/>
          </a:prstGeom>
          <a:ln w="0">
            <a:noFill/>
          </a:ln>
        </p:spPr>
      </p:pic>
      <p:sp>
        <p:nvSpPr>
          <p:cNvPr id="143" name="TextBox 10"/>
          <p:cNvSpPr/>
          <p:nvPr/>
        </p:nvSpPr>
        <p:spPr>
          <a:xfrm>
            <a:off x="6950160" y="1350000"/>
            <a:ext cx="4741560" cy="241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Ocho candidatos: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regla por historial, regresión logística y su versión ponderada, refuerzo de gradiente, Random Forest, XGBoost, LightGBM y SVM.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Validación temporal: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hiperparámetros elegidos en una validación interna; la prueba, de enero a mayo de 2026, no interviene en ninguna elección.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Métrica que decide: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PR AUC, porque el modelo ordena una lista y las clases están desbalanceadas.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Además: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curvas ROC, calibración, pérdida, matrices de confusión, ablaciones y ejemplos reales.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Punto de operación: cuántas alertas por mes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Corregimos un error: el umbral por probabilidad no se trasladaba al modelo final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9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6"/>
          <p:cNvSpPr/>
          <p:nvPr/>
        </p:nvSpPr>
        <p:spPr>
          <a:xfrm>
            <a:off x="487440" y="1276920"/>
            <a:ext cx="6625080" cy="304596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0" name="Picture 7" descr="b_ganancia.png"/>
          <p:cNvPicPr/>
          <p:nvPr/>
        </p:nvPicPr>
        <p:blipFill>
          <a:blip r:embed="rId1"/>
          <a:stretch/>
        </p:blipFill>
        <p:spPr>
          <a:xfrm>
            <a:off x="500040" y="1289520"/>
            <a:ext cx="6599520" cy="3020400"/>
          </a:xfrm>
          <a:prstGeom prst="rect">
            <a:avLst/>
          </a:prstGeom>
          <a:ln w="0">
            <a:noFill/>
          </a:ln>
        </p:spPr>
      </p:pic>
      <p:sp>
        <p:nvSpPr>
          <p:cNvPr id="151" name="Rectangle 8"/>
          <p:cNvSpPr/>
          <p:nvPr/>
        </p:nvSpPr>
        <p:spPr>
          <a:xfrm>
            <a:off x="487440" y="4494960"/>
            <a:ext cx="6625080" cy="165996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2" name="Picture 9" descr="b_umbral.png"/>
          <p:cNvPicPr/>
          <p:nvPr/>
        </p:nvPicPr>
        <p:blipFill>
          <a:blip r:embed="rId2"/>
          <a:stretch/>
        </p:blipFill>
        <p:spPr>
          <a:xfrm>
            <a:off x="500040" y="4507560"/>
            <a:ext cx="6599520" cy="1634400"/>
          </a:xfrm>
          <a:prstGeom prst="rect">
            <a:avLst/>
          </a:prstGeom>
          <a:ln w="0">
            <a:noFill/>
          </a:ln>
        </p:spPr>
      </p:pic>
      <p:sp>
        <p:nvSpPr>
          <p:cNvPr id="153" name="TextBox 10"/>
          <p:cNvSpPr/>
          <p:nvPr/>
        </p:nvSpPr>
        <p:spPr>
          <a:xfrm>
            <a:off x="7350120" y="1350000"/>
            <a:ext cx="4341600" cy="22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Antes: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96 % de exhaustividad marcando el 85 % de la red cada mes, con 1.779 falsos positivos.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Ahora: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270 alertas por mes, elegidas en la validación con F2. Exhaustividad de 82,8 % y 990 falsos positivos, un 44 % menos.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Mismo número de alertas para todos: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más exhaustividad es exactamente menos falsos positivos.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Falsos negativos primero: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un corte no previsto cuesta más que una poda adelantada.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500040" y="299880"/>
            <a:ext cx="11191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Por qué nos quedamos con la regresión logística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6"/>
          <p:cNvSpPr/>
          <p:nvPr/>
        </p:nvSpPr>
        <p:spPr>
          <a:xfrm>
            <a:off x="487440" y="1404720"/>
            <a:ext cx="7025040" cy="269028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0" name="Picture 7" descr="b_tabla.png"/>
          <p:cNvPicPr/>
          <p:nvPr/>
        </p:nvPicPr>
        <p:blipFill>
          <a:blip r:embed="rId1"/>
          <a:stretch/>
        </p:blipFill>
        <p:spPr>
          <a:xfrm>
            <a:off x="500040" y="1417320"/>
            <a:ext cx="6999480" cy="2665080"/>
          </a:xfrm>
          <a:prstGeom prst="rect">
            <a:avLst/>
          </a:prstGeom>
          <a:ln w="0">
            <a:noFill/>
          </a:ln>
        </p:spPr>
      </p:pic>
      <p:sp>
        <p:nvSpPr>
          <p:cNvPr id="161" name="Rectangle 8"/>
          <p:cNvSpPr/>
          <p:nvPr/>
        </p:nvSpPr>
        <p:spPr>
          <a:xfrm>
            <a:off x="487440" y="4587840"/>
            <a:ext cx="7025040" cy="162432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2" name="Picture 9" descr="b_variantes.png"/>
          <p:cNvPicPr/>
          <p:nvPr/>
        </p:nvPicPr>
        <p:blipFill>
          <a:blip r:embed="rId2"/>
          <a:stretch/>
        </p:blipFill>
        <p:spPr>
          <a:xfrm>
            <a:off x="500040" y="4600440"/>
            <a:ext cx="6999480" cy="1598760"/>
          </a:xfrm>
          <a:prstGeom prst="rect">
            <a:avLst/>
          </a:prstGeom>
          <a:ln w="0">
            <a:noFill/>
          </a:ln>
        </p:spPr>
      </p:pic>
      <p:sp>
        <p:nvSpPr>
          <p:cNvPr id="163" name="TextBox 10"/>
          <p:cNvSpPr/>
          <p:nvPr/>
        </p:nvSpPr>
        <p:spPr>
          <a:xfrm>
            <a:off x="7750080" y="1249920"/>
            <a:ext cx="3941640" cy="272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Mejor PR AUC: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0,401, empatada con Random Forest; ningún modelo la supera con un intervalo que no cruce el cero.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Primera en exhaustividad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entre los modelos en el punto de operación.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Calibrada: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Brier de 0,122; su probabilidad se puede sumar en el índice.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Explicable: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cada razón del ranking sale de un coeficiente.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300" spc="-1" strike="noStrike">
                <a:solidFill>
                  <a:srgbClr val="131a26"/>
                </a:solidFill>
                <a:latin typeface="Arial"/>
              </a:rPr>
              <a:t>Ninguna variante la mejora: </a:t>
            </a:r>
            <a:r>
              <a:rPr b="0" lang="en-US" sz="1300" spc="-1" strike="noStrike">
                <a:solidFill>
                  <a:srgbClr val="131a26"/>
                </a:solidFill>
                <a:latin typeface="Arial"/>
              </a:rPr>
              <a:t>recencia, tendencia de 3 meses ni splines.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Un modelo estable, sin entrenamiento por calendario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El modelo se entrena una vez y cada semana solo se usa, se monitorea y, si hace falta, se recalibra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11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6"/>
          <p:cNvSpPr/>
          <p:nvPr/>
        </p:nvSpPr>
        <p:spPr>
          <a:xfrm>
            <a:off x="500040" y="1550160"/>
            <a:ext cx="2647800" cy="18997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59840" rIns="159840" tIns="60120" bIns="6012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600" spc="-1" strike="noStrike">
                <a:solidFill>
                  <a:srgbClr val="395aa1"/>
                </a:solidFill>
                <a:latin typeface="Arial"/>
              </a:rPr>
              <a:t>1. Modelo vigente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Se entrena una vez y se guarda con su ficha: variables, meses y desempeño.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7"/>
          <p:cNvSpPr/>
          <p:nvPr/>
        </p:nvSpPr>
        <p:spPr>
          <a:xfrm>
            <a:off x="3348000" y="1550160"/>
            <a:ext cx="2647800" cy="18997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59840" rIns="159840" tIns="60120" bIns="6012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600" spc="-1" strike="noStrike">
                <a:solidFill>
                  <a:srgbClr val="395aa1"/>
                </a:solidFill>
                <a:latin typeface="Arial"/>
              </a:rPr>
              <a:t>2. Monitoreo semanal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En los meses nuevos con resultado: PR AUC frente a la regla y calibración.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8"/>
          <p:cNvSpPr/>
          <p:nvPr/>
        </p:nvSpPr>
        <p:spPr>
          <a:xfrm>
            <a:off x="6195960" y="1550160"/>
            <a:ext cx="2647800" cy="18997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59840" rIns="159840" tIns="60120" bIns="6012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600" spc="-1" strike="noStrike">
                <a:solidFill>
                  <a:srgbClr val="395aa1"/>
                </a:solidFill>
                <a:latin typeface="Arial"/>
              </a:rPr>
              <a:t>3. Recalibración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Si la probabilidad se aleja de lo observado, se ajusta la escala; el ranking no cambia.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ounded Rectangle 9"/>
          <p:cNvSpPr/>
          <p:nvPr/>
        </p:nvSpPr>
        <p:spPr>
          <a:xfrm>
            <a:off x="9043920" y="1550160"/>
            <a:ext cx="2647800" cy="189972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 w="12700">
            <a:solidFill>
              <a:srgbClr val="e8ee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59840" rIns="159840" tIns="60120" bIns="60120" anchor="t">
            <a:no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600" spc="-1" strike="noStrike">
                <a:solidFill>
                  <a:srgbClr val="395aa1"/>
                </a:solidFill>
                <a:latin typeface="Arial"/>
              </a:rPr>
              <a:t>4. Reentrenar a pedido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Solo si el ordenamiento cae frente a la regla, con una orden explícita.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500040" y="3800160"/>
            <a:ext cx="11191680" cy="84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Prueba de robustez: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un modelo entrenado hasta enero de 2026 siguió ordenando mejor que la regla en los cuatro meses siguientes, sin pedir recalibración.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400" spc="-1" strike="noStrike">
                <a:solidFill>
                  <a:srgbClr val="131a26"/>
                </a:solidFill>
                <a:latin typeface="Arial"/>
              </a:rPr>
              <a:t>Todo queda en MLflow: </a:t>
            </a:r>
            <a:r>
              <a:rPr b="0" lang="en-US" sz="1400" spc="-1" strike="noStrike">
                <a:solidFill>
                  <a:srgbClr val="131a26"/>
                </a:solidFill>
                <a:latin typeface="Arial"/>
              </a:rPr>
              <a:t>una corrida por semana y un seguimiento con la evolución de cada métrica.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5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Arquitectura 1: en las instalaciones de Pluz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Excel semanal, el mismo pipeline en Python y la página en la red interna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Picture 6" descr="arquitectura_en_las_instalaciones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55800" y="1149840"/>
            <a:ext cx="8479800" cy="499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El flujo semanal paso a paso, demostrado con datos reales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Estado inicial con datos hasta julio; las interrupciones de agosto llegan en tres Excel semanales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13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500040" y="1249920"/>
            <a:ext cx="5470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1. Armar la demostración y entrar en ese modo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" name="Picture 7" descr="term_1_armar.png"/>
          <p:cNvPicPr/>
          <p:nvPr/>
        </p:nvPicPr>
        <p:blipFill>
          <a:blip r:embed="rId1"/>
          <a:stretch/>
        </p:blipFill>
        <p:spPr>
          <a:xfrm>
            <a:off x="500040" y="1944720"/>
            <a:ext cx="5470560" cy="1210680"/>
          </a:xfrm>
          <a:prstGeom prst="rect">
            <a:avLst/>
          </a:prstGeom>
          <a:ln w="0">
            <a:noFill/>
          </a:ln>
        </p:spPr>
      </p:pic>
      <p:sp>
        <p:nvSpPr>
          <p:cNvPr id="187" name="TextBox 8"/>
          <p:cNvSpPr/>
          <p:nvPr/>
        </p:nvSpPr>
        <p:spPr>
          <a:xfrm>
            <a:off x="6221160" y="1249920"/>
            <a:ext cx="5470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2. Estado inicial: entrena el modelo vigente, corte julio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Picture 9" descr="term_2_inicial.png"/>
          <p:cNvPicPr/>
          <p:nvPr/>
        </p:nvPicPr>
        <p:blipFill>
          <a:blip r:embed="rId2"/>
          <a:stretch/>
        </p:blipFill>
        <p:spPr>
          <a:xfrm>
            <a:off x="6221160" y="1882440"/>
            <a:ext cx="5470560" cy="1334520"/>
          </a:xfrm>
          <a:prstGeom prst="rect">
            <a:avLst/>
          </a:prstGeom>
          <a:ln w="0">
            <a:noFill/>
          </a:ln>
        </p:spPr>
      </p:pic>
      <p:sp>
        <p:nvSpPr>
          <p:cNvPr id="189" name="TextBox 10"/>
          <p:cNvSpPr/>
          <p:nvPr/>
        </p:nvSpPr>
        <p:spPr>
          <a:xfrm>
            <a:off x="500040" y="3700080"/>
            <a:ext cx="5470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3. Pluz deja el Excel de la semana en la carpeta de entrada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Picture 11" descr="term_3_siguiente.png"/>
          <p:cNvPicPr/>
          <p:nvPr/>
        </p:nvPicPr>
        <p:blipFill>
          <a:blip r:embed="rId3"/>
          <a:stretch/>
        </p:blipFill>
        <p:spPr>
          <a:xfrm>
            <a:off x="500040" y="4704480"/>
            <a:ext cx="5470560" cy="590400"/>
          </a:xfrm>
          <a:prstGeom prst="rect">
            <a:avLst/>
          </a:prstGeom>
          <a:ln w="0">
            <a:noFill/>
          </a:ln>
        </p:spPr>
      </p:pic>
      <p:sp>
        <p:nvSpPr>
          <p:cNvPr id="191" name="TextBox 12"/>
          <p:cNvSpPr/>
          <p:nvPr/>
        </p:nvSpPr>
        <p:spPr>
          <a:xfrm>
            <a:off x="6221160" y="3700080"/>
            <a:ext cx="5470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4. Lunes 10:00, a mano: recibe, actualiza y monitorea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Picture 13" descr="term_4_semanal.png"/>
          <p:cNvPicPr/>
          <p:nvPr/>
        </p:nvPicPr>
        <p:blipFill>
          <a:blip r:embed="rId4"/>
          <a:stretch/>
        </p:blipFill>
        <p:spPr>
          <a:xfrm>
            <a:off x="6221160" y="4332600"/>
            <a:ext cx="5470560" cy="1334520"/>
          </a:xfrm>
          <a:prstGeom prst="rect">
            <a:avLst/>
          </a:prstGeom>
          <a:ln w="0">
            <a:noFill/>
          </a:ln>
        </p:spPr>
      </p:pic>
      <p:sp>
        <p:nvSpPr>
          <p:cNvPr id="193" name="Rounded Rectangle 14"/>
          <p:cNvSpPr/>
          <p:nvPr/>
        </p:nvSpPr>
        <p:spPr>
          <a:xfrm>
            <a:off x="500040" y="6080040"/>
            <a:ext cx="10491480" cy="379800"/>
          </a:xfrm>
          <a:prstGeom prst="roundRect">
            <a:avLst>
              <a:gd name="adj" fmla="val 8000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rIns="119880" tIns="60120" bIns="601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2f55"/>
                </a:solidFill>
                <a:latin typeface="Arial"/>
              </a:rPr>
              <a:t>Semanas 2 y 3: se repiten los pasos 3 y 4. Al final, la orden borrar deja todo como estaba.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Qué cambia en la página después de la corrida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La misma herramienta, antes y después de recibir agosto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6"/>
          <p:cNvSpPr/>
          <p:nvPr/>
        </p:nvSpPr>
        <p:spPr>
          <a:xfrm>
            <a:off x="2483280" y="1237320"/>
            <a:ext cx="7225200" cy="237492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0" name="Picture 7" descr="demo_antes_c.png"/>
          <p:cNvPicPr/>
          <p:nvPr/>
        </p:nvPicPr>
        <p:blipFill>
          <a:blip r:embed="rId1"/>
          <a:stretch/>
        </p:blipFill>
        <p:spPr>
          <a:xfrm>
            <a:off x="2495880" y="1249920"/>
            <a:ext cx="7199640" cy="2349720"/>
          </a:xfrm>
          <a:prstGeom prst="rect">
            <a:avLst/>
          </a:prstGeom>
          <a:ln w="0">
            <a:noFill/>
          </a:ln>
        </p:spPr>
      </p:pic>
      <p:sp>
        <p:nvSpPr>
          <p:cNvPr id="201" name="Rectangle 8"/>
          <p:cNvSpPr/>
          <p:nvPr/>
        </p:nvSpPr>
        <p:spPr>
          <a:xfrm>
            <a:off x="2483280" y="3787200"/>
            <a:ext cx="7225200" cy="237492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02" name="Picture 9" descr="piloto_cabecera_c.png"/>
          <p:cNvPicPr/>
          <p:nvPr/>
        </p:nvPicPr>
        <p:blipFill>
          <a:blip r:embed="rId2"/>
          <a:stretch/>
        </p:blipFill>
        <p:spPr>
          <a:xfrm>
            <a:off x="2495880" y="3800160"/>
            <a:ext cx="7199640" cy="2349720"/>
          </a:xfrm>
          <a:prstGeom prst="rect">
            <a:avLst/>
          </a:prstGeom>
          <a:ln w="0">
            <a:noFill/>
          </a:ln>
        </p:spPr>
      </p:pic>
      <p:sp>
        <p:nvSpPr>
          <p:cNvPr id="203" name="TextBox 10"/>
          <p:cNvSpPr/>
          <p:nvPr/>
        </p:nvSpPr>
        <p:spPr>
          <a:xfrm>
            <a:off x="500040" y="3620160"/>
            <a:ext cx="11191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4e5a6e"/>
                </a:solidFill>
                <a:latin typeface="Arial"/>
              </a:rPr>
              <a:t>Antes: corte de julio, ventana de agosto a octubre de 2026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1"/>
          <p:cNvSpPr/>
          <p:nvPr/>
        </p:nvSpPr>
        <p:spPr>
          <a:xfrm>
            <a:off x="500040" y="6170040"/>
            <a:ext cx="111916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4e5a6e"/>
                </a:solidFill>
                <a:latin typeface="Arial"/>
              </a:rPr>
              <a:t>Después: corte de agosto, ventana de setiembre a noviembre de 2026, plan e indicadores recalculados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Cómo leer MLflow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python3 pipeline/actualizar.py mlflow abre el experimento pluz_modelo_vigente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15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6"/>
          <p:cNvSpPr/>
          <p:nvPr/>
        </p:nvSpPr>
        <p:spPr>
          <a:xfrm>
            <a:off x="487440" y="1386720"/>
            <a:ext cx="5325120" cy="212580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1" name="Picture 7" descr="mlflow_runs_c.png"/>
          <p:cNvPicPr/>
          <p:nvPr/>
        </p:nvPicPr>
        <p:blipFill>
          <a:blip r:embed="rId1"/>
          <a:stretch/>
        </p:blipFill>
        <p:spPr>
          <a:xfrm>
            <a:off x="500040" y="1399680"/>
            <a:ext cx="5299560" cy="2100600"/>
          </a:xfrm>
          <a:prstGeom prst="rect">
            <a:avLst/>
          </a:prstGeom>
          <a:ln w="0">
            <a:noFill/>
          </a:ln>
        </p:spPr>
      </p:pic>
      <p:sp>
        <p:nvSpPr>
          <p:cNvPr id="212" name="Rectangle 8"/>
          <p:cNvSpPr/>
          <p:nvPr/>
        </p:nvSpPr>
        <p:spPr>
          <a:xfrm>
            <a:off x="6361200" y="1237320"/>
            <a:ext cx="4969440" cy="492516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13" name="Picture 9" descr="mlflow_seguimiento_c.png"/>
          <p:cNvPicPr/>
          <p:nvPr/>
        </p:nvPicPr>
        <p:blipFill>
          <a:blip r:embed="rId2"/>
          <a:stretch/>
        </p:blipFill>
        <p:spPr>
          <a:xfrm>
            <a:off x="6373800" y="1249920"/>
            <a:ext cx="4944240" cy="4899600"/>
          </a:xfrm>
          <a:prstGeom prst="rect">
            <a:avLst/>
          </a:prstGeom>
          <a:ln w="0">
            <a:noFill/>
          </a:ln>
        </p:spPr>
      </p:pic>
      <p:sp>
        <p:nvSpPr>
          <p:cNvPr id="214" name="TextBox 10"/>
          <p:cNvSpPr/>
          <p:nvPr/>
        </p:nvSpPr>
        <p:spPr>
          <a:xfrm>
            <a:off x="500040" y="3849840"/>
            <a:ext cx="5299560" cy="15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131a26"/>
                </a:solidFill>
                <a:latin typeface="Arial"/>
              </a:rPr>
              <a:t>Una corrida por semana: </a:t>
            </a:r>
            <a:r>
              <a:rPr b="0" lang="en-US" sz="1200" spc="-1" strike="noStrike">
                <a:solidFill>
                  <a:srgbClr val="131a26"/>
                </a:solidFill>
                <a:latin typeface="Arial"/>
              </a:rPr>
              <a:t>el detalle de cada semana, con su corte.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131a26"/>
                </a:solidFill>
                <a:latin typeface="Arial"/>
              </a:rPr>
              <a:t>Seguimiento semanal: </a:t>
            </a:r>
            <a:r>
              <a:rPr b="0" lang="en-US" sz="1200" spc="-1" strike="noStrike">
                <a:solidFill>
                  <a:srgbClr val="131a26"/>
                </a:solidFill>
                <a:latin typeface="Arial"/>
              </a:rPr>
              <a:t>las métricas como líneas, un punto por semana.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131a26"/>
                </a:solidFill>
                <a:latin typeface="Arial"/>
              </a:rPr>
              <a:t>PR AUC del modelo frente a la regla: </a:t>
            </a:r>
            <a:r>
              <a:rPr b="0" lang="en-US" sz="1200" spc="-1" strike="noStrike">
                <a:solidFill>
                  <a:srgbClr val="131a26"/>
                </a:solidFill>
                <a:latin typeface="Arial"/>
              </a:rPr>
              <a:t>si el modelo cae por debajo, el reporte recomienda reentrenar.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131a26"/>
                </a:solidFill>
                <a:latin typeface="Arial"/>
              </a:rPr>
              <a:t>Observado sobre esperado: </a:t>
            </a:r>
            <a:r>
              <a:rPr b="0" lang="en-US" sz="1200" spc="-1" strike="noStrike">
                <a:solidFill>
                  <a:srgbClr val="131a26"/>
                </a:solidFill>
                <a:latin typeface="Arial"/>
              </a:rPr>
              <a:t>cerca de 1 es buena calibración; fuera de 0,8 a 1,25 durante tres meses, se recalibra.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7558560" cy="10980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Rectangle 2"/>
          <p:cNvSpPr/>
          <p:nvPr/>
        </p:nvSpPr>
        <p:spPr>
          <a:xfrm>
            <a:off x="7558920" y="0"/>
            <a:ext cx="2316240" cy="10980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7" name="Rectangle 3"/>
          <p:cNvSpPr/>
          <p:nvPr/>
        </p:nvSpPr>
        <p:spPr>
          <a:xfrm>
            <a:off x="9875520" y="0"/>
            <a:ext cx="2316240" cy="10980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500040" y="299880"/>
            <a:ext cx="11191680" cy="60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2400" spc="-1" strike="noStrike">
                <a:solidFill>
                  <a:srgbClr val="131a26"/>
                </a:solidFill>
                <a:latin typeface="Arial"/>
              </a:rPr>
              <a:t>Arquitectura 2: en AWS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4e5a6e"/>
                </a:solidFill>
                <a:latin typeface="Arial"/>
              </a:rPr>
              <a:t>El mismo flujo con piezas administradas; propuesta para una fase posterior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11292120" y="6498000"/>
            <a:ext cx="4996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4e5a6e"/>
                </a:solidFill>
                <a:latin typeface="Arial"/>
              </a:rPr>
              <a:t>16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Picture 6" descr="arquitectura_aws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292480" y="1149840"/>
            <a:ext cx="7606440" cy="499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7"/>
          <p:cNvSpPr/>
          <p:nvPr/>
        </p:nvSpPr>
        <p:spPr>
          <a:xfrm>
            <a:off x="0" y="0"/>
            <a:ext cx="7558560" cy="17964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2" name="Rectangle 9"/>
          <p:cNvSpPr/>
          <p:nvPr/>
        </p:nvSpPr>
        <p:spPr>
          <a:xfrm>
            <a:off x="7558920" y="0"/>
            <a:ext cx="2316240" cy="17964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3" name="Rectangle 10"/>
          <p:cNvSpPr/>
          <p:nvPr/>
        </p:nvSpPr>
        <p:spPr>
          <a:xfrm>
            <a:off x="9875520" y="0"/>
            <a:ext cx="2316240" cy="17964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TextBox 2"/>
          <p:cNvSpPr/>
          <p:nvPr/>
        </p:nvSpPr>
        <p:spPr>
          <a:xfrm>
            <a:off x="567000" y="1500120"/>
            <a:ext cx="6399720" cy="16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3800" spc="-1" strike="noStrike">
                <a:solidFill>
                  <a:srgbClr val="131a26"/>
                </a:solidFill>
                <a:latin typeface="Arial"/>
              </a:rPr>
              <a:t>De podar por calendario a podar por riesgo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4e5a6e"/>
                </a:solidFill>
                <a:latin typeface="Arial"/>
              </a:rPr>
              <a:t>Pruebe la herramienta: escanee el código o abra el enlace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ounded Rectangle 2"/>
          <p:cNvSpPr/>
          <p:nvPr/>
        </p:nvSpPr>
        <p:spPr>
          <a:xfrm>
            <a:off x="567000" y="3999960"/>
            <a:ext cx="6399720" cy="459720"/>
          </a:xfrm>
          <a:prstGeom prst="roundRect">
            <a:avLst>
              <a:gd name="adj" fmla="val 16667"/>
            </a:avLst>
          </a:prstGeom>
          <a:solidFill>
            <a:srgbClr val="e8ee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d2f55"/>
                </a:solidFill>
                <a:latin typeface="Arial"/>
              </a:rPr>
              <a:t>https://ricardoamiel.github.io/CDC-Pluz-Poda/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Picture 3" descr="pluz-logo.png"/>
          <p:cNvPicPr/>
          <p:nvPr/>
        </p:nvPicPr>
        <p:blipFill>
          <a:blip r:embed="rId1"/>
          <a:stretch/>
        </p:blipFill>
        <p:spPr>
          <a:xfrm>
            <a:off x="567000" y="5150160"/>
            <a:ext cx="1299600" cy="661680"/>
          </a:xfrm>
          <a:prstGeom prst="rect">
            <a:avLst/>
          </a:prstGeom>
          <a:ln w="0">
            <a:noFill/>
          </a:ln>
        </p:spPr>
      </p:pic>
      <p:sp>
        <p:nvSpPr>
          <p:cNvPr id="227" name="Rectangle 11"/>
          <p:cNvSpPr/>
          <p:nvPr/>
        </p:nvSpPr>
        <p:spPr>
          <a:xfrm>
            <a:off x="7711920" y="1437480"/>
            <a:ext cx="3925080" cy="3925080"/>
          </a:xfrm>
          <a:prstGeom prst="rect">
            <a:avLst/>
          </a:prstGeom>
          <a:noFill/>
          <a:ln w="12700">
            <a:solidFill>
              <a:srgbClr val="c2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8" name="Picture 5" descr="qrcode_409777093_3a34ffe28abd7d4b761a091339debe8a.png"/>
          <p:cNvPicPr/>
          <p:nvPr/>
        </p:nvPicPr>
        <p:blipFill>
          <a:blip r:embed="rId2"/>
          <a:stretch/>
        </p:blipFill>
        <p:spPr>
          <a:xfrm>
            <a:off x="7724880" y="1450080"/>
            <a:ext cx="3899520" cy="389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7558560" cy="169560"/>
          </a:xfrm>
          <a:prstGeom prst="rect">
            <a:avLst/>
          </a:prstGeom>
          <a:solidFill>
            <a:srgbClr val="395aa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Rectangle 2"/>
          <p:cNvSpPr/>
          <p:nvPr/>
        </p:nvSpPr>
        <p:spPr>
          <a:xfrm>
            <a:off x="7558920" y="0"/>
            <a:ext cx="2316240" cy="169560"/>
          </a:xfrm>
          <a:prstGeom prst="rect">
            <a:avLst/>
          </a:prstGeom>
          <a:solidFill>
            <a:srgbClr val="fc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1" name="Rectangle 3"/>
          <p:cNvSpPr/>
          <p:nvPr/>
        </p:nvSpPr>
        <p:spPr>
          <a:xfrm>
            <a:off x="9875520" y="0"/>
            <a:ext cx="2316240" cy="169560"/>
          </a:xfrm>
          <a:prstGeom prst="rect">
            <a:avLst/>
          </a:prstGeom>
          <a:solidFill>
            <a:srgbClr val="6cac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TextBox 4"/>
          <p:cNvSpPr/>
          <p:nvPr/>
        </p:nvSpPr>
        <p:spPr>
          <a:xfrm>
            <a:off x="500040" y="1500120"/>
            <a:ext cx="11191680" cy="9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3400" spc="-1" strike="noStrike">
                <a:solidFill>
                  <a:srgbClr val="131a26"/>
                </a:solidFill>
                <a:latin typeface="Arial"/>
              </a:rPr>
              <a:t>De podar por calendario a podar por riesgo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4e5a6e"/>
                </a:solidFill>
                <a:latin typeface="Arial"/>
              </a:rPr>
              <a:t>Siguiente: testeo con Pluz en la reunión N°4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5"/>
          <p:cNvSpPr/>
          <p:nvPr/>
        </p:nvSpPr>
        <p:spPr>
          <a:xfrm>
            <a:off x="500040" y="3200040"/>
            <a:ext cx="11191680" cy="12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rgbClr val="131a26"/>
                </a:solidFill>
                <a:latin typeface="Arial"/>
              </a:rPr>
              <a:t>Decidir con Pluz </a:t>
            </a:r>
            <a:r>
              <a:rPr b="0" lang="en-US" sz="1600" spc="-1" strike="noStrike">
                <a:solidFill>
                  <a:srgbClr val="131a26"/>
                </a:solidFill>
                <a:latin typeface="Arial"/>
              </a:rPr>
              <a:t>si las interrupciones salen del modelo y qué indicador mide el éxito.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rgbClr val="131a26"/>
                </a:solidFill>
                <a:latin typeface="Arial"/>
              </a:rPr>
              <a:t>Pedir datos: </a:t>
            </a:r>
            <a:r>
              <a:rPr b="0" lang="en-US" sz="1600" spc="-1" strike="noStrike">
                <a:solidFill>
                  <a:srgbClr val="131a26"/>
                </a:solidFill>
                <a:latin typeface="Arial"/>
              </a:rPr>
              <a:t>maestro de estructuras para bajar a tramo, inventario de vegetación y la poda de Norte Chico con alimentador.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901"/>
              </a:spcAft>
              <a:buClr>
                <a:srgbClr val="131a26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rgbClr val="131a26"/>
                </a:solidFill>
                <a:latin typeface="Arial"/>
              </a:rPr>
              <a:t>Definir dónde se sirve la página </a:t>
            </a:r>
            <a:r>
              <a:rPr b="0" lang="en-US" sz="1600" spc="-1" strike="noStrike">
                <a:solidFill>
                  <a:srgbClr val="131a26"/>
                </a:solidFill>
                <a:latin typeface="Arial"/>
              </a:rPr>
              <a:t>dentro de la red de Pluz, porque hoy es pública.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2026-10-15T19:28:01Z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